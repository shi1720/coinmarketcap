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cb242f1e004345" /><Relationship Type="http://schemas.openxmlformats.org/officeDocument/2006/relationships/extended-properties" Target="/docProps/app.xml" Id="Rc9f7ed252e6242b9" /><Relationship Type="http://schemas.openxmlformats.org/officeDocument/2006/relationships/officeDocument" Target="/ppt/presentation.xml" Id="Rff6ce6451f1b4638" /></Relationships>
</file>

<file path=ppt/presentation.xml><?xml version="1.0" encoding="utf-8"?>
<p:presentation xmlns:p="http://schemas.openxmlformats.org/presentationml/2006/main">
  <p:sldMasterIdLst>
    <p:sldMasterId xmlns:r="http://schemas.openxmlformats.org/officeDocument/2006/relationships" id="2147483648" r:id="Rf93a8c52aabe47ad"/>
  </p:sldMasterIdLst>
  <p:notesMasterIdLst>
    <p:notesMasterId xmlns:r="http://schemas.openxmlformats.org/officeDocument/2006/relationships" r:id="R9e960846d0784570"/>
  </p:notesMasterIdLst>
  <p:sldIdLst>
    <p:sldId xmlns:r="http://schemas.openxmlformats.org/officeDocument/2006/relationships" id="256" r:id="R6432e6b3d99e47dd"/>
    <p:sldId xmlns:r="http://schemas.openxmlformats.org/officeDocument/2006/relationships" id="257" r:id="R0944e063420f4e08"/>
    <p:sldId xmlns:r="http://schemas.openxmlformats.org/officeDocument/2006/relationships" id="258" r:id="Ra25476c0b4ea449c"/>
    <p:sldId xmlns:r="http://schemas.openxmlformats.org/officeDocument/2006/relationships" id="259" r:id="R77d2cbb1816a42ff"/>
    <p:sldId xmlns:r="http://schemas.openxmlformats.org/officeDocument/2006/relationships" id="260" r:id="Rf68aa27094ba4653"/>
    <p:sldId xmlns:r="http://schemas.openxmlformats.org/officeDocument/2006/relationships" id="261" r:id="R0e97f31fb2b44274"/>
    <p:sldId xmlns:r="http://schemas.openxmlformats.org/officeDocument/2006/relationships" id="262" r:id="R12fcf79d724a4d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a83f3b50d54f20" /><Relationship Type="http://schemas.openxmlformats.org/officeDocument/2006/relationships/slideMaster" Target="/ppt/slideMasters/slideMaster1.xml" Id="Rf93a8c52aabe47ad" /><Relationship Type="http://schemas.openxmlformats.org/officeDocument/2006/relationships/notesMaster" Target="/ppt/notesMasters/notesMaster1.xml" Id="R9e960846d0784570" /><Relationship Type="http://schemas.openxmlformats.org/officeDocument/2006/relationships/presProps" Target="/ppt/presProps.xml" Id="Rfbfb653a524c406e" /><Relationship Type="http://schemas.openxmlformats.org/officeDocument/2006/relationships/tableStyles" Target="/ppt/tableStyles.xml" Id="Re28c6c916e6a4d6f" /><Relationship Type="http://schemas.openxmlformats.org/officeDocument/2006/relationships/slide" Target="/ppt/slides/slide1.xml" Id="R6432e6b3d99e47dd" /><Relationship Type="http://schemas.openxmlformats.org/officeDocument/2006/relationships/slide" Target="/ppt/slides/slide2.xml" Id="R0944e063420f4e08" /><Relationship Type="http://schemas.openxmlformats.org/officeDocument/2006/relationships/slide" Target="/ppt/slides/slide3.xml" Id="Ra25476c0b4ea449c" /><Relationship Type="http://schemas.openxmlformats.org/officeDocument/2006/relationships/slide" Target="/ppt/slides/slide4.xml" Id="R77d2cbb1816a42ff" /><Relationship Type="http://schemas.openxmlformats.org/officeDocument/2006/relationships/slide" Target="/ppt/slides/slide5.xml" Id="Rf68aa27094ba4653" /><Relationship Type="http://schemas.openxmlformats.org/officeDocument/2006/relationships/slide" Target="/ppt/slides/slide6.xml" Id="R0e97f31fb2b44274" /><Relationship Type="http://schemas.openxmlformats.org/officeDocument/2006/relationships/slide" Target="/ppt/slides/slide7.xml" Id="R12fcf79d724a4d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22c2786fd34b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3a644252f74f92" /><Relationship Type="http://schemas.openxmlformats.org/officeDocument/2006/relationships/notesMaster" Target="/ppt/notesMasters/notesMaster1.xml" Id="Raf774e2c481848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63122a90e7420b" /><Relationship Type="http://schemas.openxmlformats.org/officeDocument/2006/relationships/notesMaster" Target="/ppt/notesMasters/notesMaster1.xml" Id="Racdbf1fa548e49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5a7f9b1819d467b" /><Relationship Type="http://schemas.openxmlformats.org/officeDocument/2006/relationships/notesMaster" Target="/ppt/notesMasters/notesMaster1.xml" Id="Rc8bd75c7734749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1d8fd7183f44d2" /><Relationship Type="http://schemas.openxmlformats.org/officeDocument/2006/relationships/notesMaster" Target="/ppt/notesMasters/notesMaster1.xml" Id="R2e82ba0b56ad49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cd729bb7784aae" /><Relationship Type="http://schemas.openxmlformats.org/officeDocument/2006/relationships/notesMaster" Target="/ppt/notesMasters/notesMaster1.xml" Id="Rdad03fec051446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0b86b0345ae4e5d" /><Relationship Type="http://schemas.openxmlformats.org/officeDocument/2006/relationships/notesMaster" Target="/ppt/notesMasters/notesMaster1.xml" Id="R5626141b9dab44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78af636902a847f7" /><Relationship Type="http://schemas.openxmlformats.org/officeDocument/2006/relationships/notesMaster" Target="/ppt/notesMasters/notesMaster1.xml" Id="R6999af0161794c0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hackathon build credited to Shivam Gupta. Source: https://coinmarketcap.com/api/resources/api-hackathon/ . This deck describes actual planning software and a proposed business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scenario, not a customer. Fiat25,000. Monthly burn42,000 includes scheduled payroll30,000. Residual monthly burn12,000 accrues using365.25/12days. At7days:12000*7/(365.25/12)=2759.7536. Payroll gap before residual burn=5000. Locked.5BTC cannot fund obligations. One-off renewal20,000 due14days is outside this7day comparison. Asset marks are dynamic and deliberately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shipped feature descriptions supplied by product owner. This is a workflow explanation, not a fabricated product screenshot. Reports preserve inputs, quotes, scenario and assumptions. No trades or payroll execution. Supported assetsBTC,ETH,SOL,USDC,USDT.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CMC official endpoint, batching, IDs,60second upstream update and one credit per250assets: https://coinmarketcap.com/api/documentation/pro-api-reference/cryptocurrency . Public route: https://coinmarketcap.com/api/documentation/pro-api-reference/keyless-public-api . Application cache is5minutes. IDs supported by implementation. Cash totals use integer cents. Recurring payroll replaces its share of monthly burn, rather than double-counting. Auth uses per-site stable user identity and per-user D1 record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implemented capabilities and verification scope supplied by owner. Test count intentionally omitted because final checks are still ongoing. Claims should match final verification record. Aggregate CMC volume is context, never executable liquidity. Stress inputs are assumptions, not forecasts. Immutable report means application-preserved snapshot, not certified cryptographic tamper-proofing.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demand and prices are hypotheses. No customer traction, paid billing, scheduled alerts or team collaboration are claimed. Current personal saved workspace is shipped. Lean budget12*24*30=8640requests. Official quotes credit rule1credit per250assets and added conversions: https://coinmarketcap.com/api/documentation/pro-api-reference/cryptocurrency . Excludes retries, storage, hosting and support. Competitors: Safe free treasury wallet https://safe.global/teams ; Request payroll and payments https://www.requestfinance.com/pricing ; KPK treasury diagnostics including concentration/runway/liquidity https://kpk.io/treasuries . Product complements existing custody/payments workflows. These reviewed sources are not an exhaustive feature comparison. Licensing launch dependency: https://coinmarketcap.com/api/pricing/ FAQ includes commercial integration language and personal/non-commercial end-user wording. Resolve applicable B2B permission before paid launch.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supplied by user: https://github.com/shi1720/coinmarketcap . Deployment URL is an expected target pending owner confirmation, deliberately not labelled live. Campaign-key evidence, registration status, demo video, DoraHacks submission and X post need verification. Hackathon requirements: https://coinmarketcap.com/api/resources/api-hackathon/ . X post must link actual submission and demo video with#BuildwithCMC.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41e60bf62e49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1da8e262544e48" /><Relationship Type="http://schemas.openxmlformats.org/officeDocument/2006/relationships/slideLayout" Target="/ppt/slideLayouts/slideLayout1.xml" Id="R71f49f27b95a4da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f49f27b95a4da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c32f8b0c53f4a10" /><Relationship Type="http://schemas.openxmlformats.org/officeDocument/2006/relationships/notesSlide" Target="/ppt/notesSlides/notesSlide1.xml" Id="Raa61e22c903d45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7d7a78fdf9c4091" /><Relationship Type="http://schemas.openxmlformats.org/officeDocument/2006/relationships/notesSlide" Target="/ppt/notesSlides/notesSlide2.xml" Id="R68f16d6c50ce42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37e8b6cb49440b" /><Relationship Type="http://schemas.openxmlformats.org/officeDocument/2006/relationships/notesSlide" Target="/ppt/notesSlides/notesSlide3.xml" Id="Rfb4ac48cfb77438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71ac93936824cde" /><Relationship Type="http://schemas.openxmlformats.org/officeDocument/2006/relationships/notesSlide" Target="/ppt/notesSlides/notesSlide4.xml" Id="R9b7d525161ac401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68e4a4812034d73" /><Relationship Type="http://schemas.openxmlformats.org/officeDocument/2006/relationships/notesSlide" Target="/ppt/notesSlides/notesSlide5.xml" Id="R9112e837e326474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c84515468a840a4" /><Relationship Type="http://schemas.openxmlformats.org/officeDocument/2006/relationships/notesSlide" Target="/ppt/notesSlides/notesSlide6.xml" Id="R2395f9cafec24bd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bb293d010724dd1" /><Relationship Type="http://schemas.openxmlformats.org/officeDocument/2006/relationships/notesSlide" Target="/ppt/notesSlides/notesSlide7.xml" Id="Rc7699b4fa5404021" /></Relationships>
</file>

<file path=ppt/slides/slide1.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D6381B-9215-4DA8-B3DF-A6C82FA16D4E}"/>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Runway Guard</a:t>
            </a:r>
          </a:p>
        </p:txBody>
      </p:sp>
      <p:sp>
        <p:nvSpPr>
          <p:cNvPr id="2" name="">
            <a:extLst xmlns:a="http://schemas.openxmlformats.org/drawingml/2006/main">
              <a:ext uri="{FF2B5EF4-FFF2-40B4-BE49-F238E27FC236}">
                <a16:creationId xmlns:a16="http://schemas.microsoft.com/office/drawing/2014/main" id="{3B927515-B0CA-4704-9733-30FB223ED67D}"/>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01</a:t>
            </a:r>
          </a:p>
        </p:txBody>
      </p:sp>
      <p:sp>
        <p:nvSpPr>
          <p:cNvPr id="3" name="">
            <a:extLst xmlns:a="http://schemas.openxmlformats.org/drawingml/2006/main">
              <a:ext uri="{FF2B5EF4-FFF2-40B4-BE49-F238E27FC236}">
                <a16:creationId xmlns:a16="http://schemas.microsoft.com/office/drawing/2014/main" id="{B1F7E649-7F90-4B84-A7E4-00BC02C60A3A}"/>
              </a:ext>
            </a:extLst>
          </p:cNvPr>
          <p:cNvSpPr>
            <a:spLocks xmlns:a="http://schemas.openxmlformats.org/drawingml/2006/main" noGrp="1"/>
          </p:cNvSpPr>
          <p:nvPr/>
        </p:nvSpPr>
        <p:spPr>
          <a:xfrm xmlns:a="http://schemas.openxmlformats.org/drawingml/2006/main">
            <a:off x="685800" y="2000250"/>
            <a:ext cx="9906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Can your crypto treasury</a:t>
            </a:r>
          </a:p>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still pay your team?</a:t>
            </a:r>
          </a:p>
        </p:txBody>
      </p:sp>
      <p:sp>
        <p:nvSpPr>
          <p:cNvPr id="4" name="">
            <a:extLst xmlns:a="http://schemas.openxmlformats.org/drawingml/2006/main">
              <a:ext uri="{FF2B5EF4-FFF2-40B4-BE49-F238E27FC236}">
                <a16:creationId xmlns:a16="http://schemas.microsoft.com/office/drawing/2014/main" id="{AE310426-06D3-4CF8-977A-08B65C833F09}"/>
              </a:ext>
            </a:extLst>
          </p:cNvPr>
          <p:cNvSpPr>
            <a:spLocks xmlns:a="http://schemas.openxmlformats.org/drawingml/2006/main" noGrp="1"/>
          </p:cNvSpPr>
          <p:nvPr/>
        </p:nvSpPr>
        <p:spPr>
          <a:xfrm xmlns:a="http://schemas.openxmlformats.org/drawingml/2006/main">
            <a:off x="685800" y="4953000"/>
            <a:ext cx="7620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5EF6B"/>
                </a:solidFill>
                <a:latin typeface="Helvetica Neue"/>
                <a:ea typeface="Helvetica Neue"/>
                <a:cs typeface="Helvetica Neue"/>
              </a:defRPr>
            </a:pPr>
            <a:r>
              <a:rPr sz="2250" b="0">
                <a:solidFill>
                  <a:srgbClr val="B5EF6B"/>
                </a:solidFill>
                <a:latin typeface="Helvetica Neue"/>
                <a:ea typeface="Helvetica Neue"/>
                <a:cs typeface="Helvetica Neue"/>
              </a:rPr>
              <a:t>Shivam Gupta</a:t>
            </a:r>
          </a:p>
        </p:txBody>
      </p:sp>
      <p:sp>
        <p:nvSpPr>
          <p:cNvPr id="5" name="">
            <a:extLst xmlns:a="http://schemas.openxmlformats.org/drawingml/2006/main">
              <a:ext uri="{FF2B5EF4-FFF2-40B4-BE49-F238E27FC236}">
                <a16:creationId xmlns:a16="http://schemas.microsoft.com/office/drawing/2014/main" id="{8D20B10C-2EED-4CDD-AE57-B819C40C8FD8}"/>
              </a:ext>
            </a:extLst>
          </p:cNvPr>
          <p:cNvSpPr>
            <a:spLocks xmlns:a="http://schemas.openxmlformats.org/drawingml/2006/main" noGrp="1"/>
          </p:cNvSpPr>
          <p:nvPr/>
        </p:nvSpPr>
        <p:spPr>
          <a:xfrm xmlns:a="http://schemas.openxmlformats.org/drawingml/2006/main">
            <a:off x="685800" y="54768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Build with CMC   /   Markets and Trading Tools</a:t>
            </a:r>
          </a:p>
        </p:txBody>
      </p:sp>
    </p:spTree>
    <p:extLst>
      <p:ext uri="{BB962C8B-B14F-4D97-AF65-F5344CB8AC3E}">
        <p14:creationId xmlns:p14="http://schemas.microsoft.com/office/powerpoint/2010/main" val="144597653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161DEA-3060-4E4C-92BA-1B0BA634FBBB}"/>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Payroll arrives before the reserve is ready</a:t>
            </a:r>
          </a:p>
        </p:txBody>
      </p:sp>
      <p:sp>
        <p:nvSpPr>
          <p:cNvPr id="2" name="">
            <a:extLst xmlns:a="http://schemas.openxmlformats.org/drawingml/2006/main">
              <a:ext uri="{FF2B5EF4-FFF2-40B4-BE49-F238E27FC236}">
                <a16:creationId xmlns:a16="http://schemas.microsoft.com/office/drawing/2014/main" id="{85E50D29-924A-4BFB-B003-C595CD48EEE4}"/>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02</a:t>
            </a:r>
          </a:p>
        </p:txBody>
      </p:sp>
      <p:sp>
        <p:nvSpPr>
          <p:cNvPr id="3" name="">
            <a:extLst xmlns:a="http://schemas.openxmlformats.org/drawingml/2006/main">
              <a:ext uri="{FF2B5EF4-FFF2-40B4-BE49-F238E27FC236}">
                <a16:creationId xmlns:a16="http://schemas.microsoft.com/office/drawing/2014/main" id="{C1E1B040-F3FD-4000-9C68-BFAA74E53910}"/>
              </a:ext>
            </a:extLst>
          </p:cNvPr>
          <p:cNvSpPr>
            <a:spLocks xmlns:a="http://schemas.openxmlformats.org/drawingml/2006/main" noGrp="1"/>
          </p:cNvSpPr>
          <p:nvPr/>
        </p:nvSpPr>
        <p:spPr>
          <a:xfrm xmlns:a="http://schemas.openxmlformats.org/drawingml/2006/main">
            <a:off x="68580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6343B"/>
                </a:solidFill>
                <a:latin typeface="Helvetica Neue"/>
                <a:ea typeface="Helvetica Neue"/>
                <a:cs typeface="Helvetica Neue"/>
              </a:defRPr>
            </a:pPr>
            <a:r>
              <a:rPr sz="5850" b="1">
                <a:solidFill>
                  <a:srgbClr val="16343B"/>
                </a:solidFill>
                <a:latin typeface="Helvetica Neue"/>
                <a:ea typeface="Helvetica Neue"/>
                <a:cs typeface="Helvetica Neue"/>
              </a:rPr>
              <a:t>$25,000</a:t>
            </a:r>
          </a:p>
        </p:txBody>
      </p:sp>
      <p:sp>
        <p:nvSpPr>
          <p:cNvPr id="4" name="">
            <a:extLst xmlns:a="http://schemas.openxmlformats.org/drawingml/2006/main">
              <a:ext uri="{FF2B5EF4-FFF2-40B4-BE49-F238E27FC236}">
                <a16:creationId xmlns:a16="http://schemas.microsoft.com/office/drawing/2014/main" id="{DC383EB7-B05C-4825-8658-62564A857E9F}"/>
              </a:ext>
            </a:extLst>
          </p:cNvPr>
          <p:cNvSpPr>
            <a:spLocks xmlns:a="http://schemas.openxmlformats.org/drawingml/2006/main" noGrp="1"/>
          </p:cNvSpPr>
          <p:nvPr/>
        </p:nvSpPr>
        <p:spPr>
          <a:xfrm xmlns:a="http://schemas.openxmlformats.org/drawingml/2006/main">
            <a:off x="723900" y="285750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Fiat available today</a:t>
            </a:r>
          </a:p>
        </p:txBody>
      </p:sp>
      <p:sp>
        <p:nvSpPr>
          <p:cNvPr id="5" name="">
            <a:extLst xmlns:a="http://schemas.openxmlformats.org/drawingml/2006/main">
              <a:ext uri="{FF2B5EF4-FFF2-40B4-BE49-F238E27FC236}">
                <a16:creationId xmlns:a16="http://schemas.microsoft.com/office/drawing/2014/main" id="{BECA2F2D-7F48-40AE-9D08-CD2CC593294E}"/>
              </a:ext>
            </a:extLst>
          </p:cNvPr>
          <p:cNvSpPr>
            <a:spLocks xmlns:a="http://schemas.openxmlformats.org/drawingml/2006/main" noGrp="1"/>
          </p:cNvSpPr>
          <p:nvPr/>
        </p:nvSpPr>
        <p:spPr>
          <a:xfrm xmlns:a="http://schemas.openxmlformats.org/drawingml/2006/main">
            <a:off x="657225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D18B26"/>
                </a:solidFill>
                <a:latin typeface="Helvetica Neue"/>
                <a:ea typeface="Helvetica Neue"/>
                <a:cs typeface="Helvetica Neue"/>
              </a:defRPr>
            </a:pPr>
            <a:r>
              <a:rPr sz="5850" b="1">
                <a:solidFill>
                  <a:srgbClr val="D18B26"/>
                </a:solidFill>
                <a:latin typeface="Helvetica Neue"/>
                <a:ea typeface="Helvetica Neue"/>
                <a:cs typeface="Helvetica Neue"/>
              </a:rPr>
              <a:t>$30,000</a:t>
            </a:r>
          </a:p>
        </p:txBody>
      </p:sp>
      <p:sp>
        <p:nvSpPr>
          <p:cNvPr id="6" name="">
            <a:extLst xmlns:a="http://schemas.openxmlformats.org/drawingml/2006/main">
              <a:ext uri="{FF2B5EF4-FFF2-40B4-BE49-F238E27FC236}">
                <a16:creationId xmlns:a16="http://schemas.microsoft.com/office/drawing/2014/main" id="{296412C3-E06E-4EB1-8E91-EFBC5D331BDB}"/>
              </a:ext>
            </a:extLst>
          </p:cNvPr>
          <p:cNvSpPr>
            <a:spLocks xmlns:a="http://schemas.openxmlformats.org/drawingml/2006/main" noGrp="1"/>
          </p:cNvSpPr>
          <p:nvPr/>
        </p:nvSpPr>
        <p:spPr>
          <a:xfrm xmlns:a="http://schemas.openxmlformats.org/drawingml/2006/main">
            <a:off x="6610350" y="285750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Sample payroll due in 7 days</a:t>
            </a:r>
          </a:p>
        </p:txBody>
      </p:sp>
      <p:sp>
        <p:nvSpPr>
          <p:cNvPr id="7" name="">
            <a:extLst xmlns:a="http://schemas.openxmlformats.org/drawingml/2006/main">
              <a:ext uri="{FF2B5EF4-FFF2-40B4-BE49-F238E27FC236}">
                <a16:creationId xmlns:a16="http://schemas.microsoft.com/office/drawing/2014/main" id="{74D48060-52DB-4116-9498-060362354BB5}"/>
              </a:ext>
            </a:extLst>
          </p:cNvPr>
          <p:cNvSpPr>
            <a:spLocks xmlns:a="http://schemas.openxmlformats.org/drawingml/2006/main" noGrp="1"/>
          </p:cNvSpPr>
          <p:nvPr/>
        </p:nvSpPr>
        <p:spPr>
          <a:xfrm xmlns:a="http://schemas.openxmlformats.org/drawingml/2006/main">
            <a:off x="685800" y="3952875"/>
            <a:ext cx="1000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6343B"/>
                </a:solidFill>
                <a:latin typeface="Helvetica Neue"/>
                <a:ea typeface="Helvetica Neue"/>
                <a:cs typeface="Helvetica Neue"/>
              </a:defRPr>
            </a:pPr>
            <a:r>
              <a:rPr sz="3000" b="1">
                <a:solidFill>
                  <a:srgbClr val="16343B"/>
                </a:solidFill>
                <a:latin typeface="Helvetica Neue"/>
                <a:ea typeface="Helvetica Neue"/>
                <a:cs typeface="Helvetica Neue"/>
              </a:rPr>
              <a:t>$5,000 payroll gap</a:t>
            </a:r>
          </a:p>
        </p:txBody>
      </p:sp>
      <p:sp>
        <p:nvSpPr>
          <p:cNvPr id="8" name="">
            <a:extLst xmlns:a="http://schemas.openxmlformats.org/drawingml/2006/main">
              <a:ext uri="{FF2B5EF4-FFF2-40B4-BE49-F238E27FC236}">
                <a16:creationId xmlns:a16="http://schemas.microsoft.com/office/drawing/2014/main" id="{0C95EB6F-A45E-452A-8773-5B36FE9036AD}"/>
              </a:ext>
            </a:extLst>
          </p:cNvPr>
          <p:cNvSpPr>
            <a:spLocks xmlns:a="http://schemas.openxmlformats.org/drawingml/2006/main" noGrp="1"/>
          </p:cNvSpPr>
          <p:nvPr/>
        </p:nvSpPr>
        <p:spPr>
          <a:xfrm xmlns:a="http://schemas.openxmlformats.org/drawingml/2006/main">
            <a:off x="685800" y="46672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Plus about $2,760 of residual operating burn by day 7</a:t>
            </a:r>
          </a:p>
        </p:txBody>
      </p:sp>
      <p:sp>
        <p:nvSpPr>
          <p:cNvPr id="9" name="">
            <a:extLst xmlns:a="http://schemas.openxmlformats.org/drawingml/2006/main">
              <a:ext uri="{FF2B5EF4-FFF2-40B4-BE49-F238E27FC236}">
                <a16:creationId xmlns:a16="http://schemas.microsoft.com/office/drawing/2014/main" id="{BC7A768D-C073-4D19-85CA-9496565D764C}"/>
              </a:ext>
            </a:extLst>
          </p:cNvPr>
          <p:cNvSpPr>
            <a:spLocks xmlns:a="http://schemas.openxmlformats.org/drawingml/2006/main" noGrp="1"/>
          </p:cNvSpPr>
          <p:nvPr/>
        </p:nvSpPr>
        <p:spPr>
          <a:xfrm xmlns:a="http://schemas.openxmlformats.org/drawingml/2006/main">
            <a:off x="685800" y="5238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0.5 locked BTC contributes no spendable cash</a:t>
            </a:r>
          </a:p>
        </p:txBody>
      </p:sp>
      <p:sp>
        <p:nvSpPr>
          <p:cNvPr id="10" name="">
            <a:extLst xmlns:a="http://schemas.openxmlformats.org/drawingml/2006/main">
              <a:ext uri="{FF2B5EF4-FFF2-40B4-BE49-F238E27FC236}">
                <a16:creationId xmlns:a16="http://schemas.microsoft.com/office/drawing/2014/main" id="{D38290DF-7364-486C-9569-C158E1FF5CC4}"/>
              </a:ext>
            </a:extLst>
          </p:cNvPr>
          <p:cNvSpPr>
            <a:spLocks xmlns:a="http://schemas.openxmlformats.org/drawingml/2006/main" noGrp="1"/>
          </p:cNvSpPr>
          <p:nvPr/>
        </p:nvSpPr>
        <p:spPr>
          <a:xfrm xmlns:a="http://schemas.openxmlformats.org/drawingml/2006/main">
            <a:off x="685800" y="577215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C7278"/>
                </a:solidFill>
                <a:latin typeface="Helvetica Neue"/>
                <a:ea typeface="Helvetica Neue"/>
                <a:cs typeface="Helvetica Neue"/>
              </a:defRPr>
            </a:pPr>
            <a:r>
              <a:rPr sz="1350" b="0">
                <a:solidFill>
                  <a:srgbClr val="5C7278"/>
                </a:solidFill>
                <a:latin typeface="Helvetica Neue"/>
                <a:ea typeface="Helvetica Neue"/>
                <a:cs typeface="Helvetica Neue"/>
              </a:rPr>
              <a:t>Illustrative USD inputs. Payroll is included within $42,000 monthly burn.</a:t>
            </a:r>
          </a:p>
        </p:txBody>
      </p:sp>
    </p:spTree>
    <p:extLst>
      <p:ext uri="{BB962C8B-B14F-4D97-AF65-F5344CB8AC3E}">
        <p14:creationId xmlns:p14="http://schemas.microsoft.com/office/powerpoint/2010/main" val="9344063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4488F0C-1087-4260-9F6C-22E144A2607E}"/>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readiness workflow with inspectable evidence</a:t>
            </a:r>
          </a:p>
        </p:txBody>
      </p:sp>
      <p:sp>
        <p:nvSpPr>
          <p:cNvPr id="2" name="">
            <a:extLst xmlns:a="http://schemas.openxmlformats.org/drawingml/2006/main">
              <a:ext uri="{FF2B5EF4-FFF2-40B4-BE49-F238E27FC236}">
                <a16:creationId xmlns:a16="http://schemas.microsoft.com/office/drawing/2014/main" id="{329B188C-7AD0-431E-8252-A18E7499659F}"/>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03</a:t>
            </a:r>
          </a:p>
        </p:txBody>
      </p:sp>
      <p:sp>
        <p:nvSpPr>
          <p:cNvPr id="3" name="">
            <a:extLst xmlns:a="http://schemas.openxmlformats.org/drawingml/2006/main">
              <a:ext uri="{FF2B5EF4-FFF2-40B4-BE49-F238E27FC236}">
                <a16:creationId xmlns:a16="http://schemas.microsoft.com/office/drawing/2014/main" id="{DE20FBB8-C560-412B-BD3E-195D28FBA1D0}"/>
              </a:ext>
            </a:extLst>
          </p:cNvPr>
          <p:cNvSpPr>
            <a:spLocks xmlns:a="http://schemas.openxmlformats.org/drawingml/2006/main" noGrp="1"/>
          </p:cNvSpPr>
          <p:nvPr/>
        </p:nvSpPr>
        <p:spPr>
          <a:xfrm xmlns:a="http://schemas.openxmlformats.org/drawingml/2006/main">
            <a:off x="685800" y="166687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BCA25748-7F0E-49AF-A65F-B1BD1766259A}"/>
              </a:ext>
            </a:extLst>
          </p:cNvPr>
          <p:cNvSpPr>
            <a:spLocks xmlns:a="http://schemas.openxmlformats.org/drawingml/2006/main" noGrp="1"/>
          </p:cNvSpPr>
          <p:nvPr/>
        </p:nvSpPr>
        <p:spPr>
          <a:xfrm xmlns:a="http://schemas.openxmlformats.org/drawingml/2006/main">
            <a:off x="1685925" y="166687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Record holdings and obligations</a:t>
            </a:r>
          </a:p>
        </p:txBody>
      </p:sp>
      <p:sp>
        <p:nvSpPr>
          <p:cNvPr id="5" name="">
            <a:extLst xmlns:a="http://schemas.openxmlformats.org/drawingml/2006/main">
              <a:ext uri="{FF2B5EF4-FFF2-40B4-BE49-F238E27FC236}">
                <a16:creationId xmlns:a16="http://schemas.microsoft.com/office/drawing/2014/main" id="{B7EE80DE-095C-4AEE-822E-45E736F044BA}"/>
              </a:ext>
            </a:extLst>
          </p:cNvPr>
          <p:cNvSpPr>
            <a:spLocks xmlns:a="http://schemas.openxmlformats.org/drawingml/2006/main" noGrp="1"/>
          </p:cNvSpPr>
          <p:nvPr/>
        </p:nvSpPr>
        <p:spPr>
          <a:xfrm xmlns:a="http://schemas.openxmlformats.org/drawingml/2006/main">
            <a:off x="1685925" y="212407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Manual entry or CSV. Five supported assets.</a:t>
            </a:r>
          </a:p>
        </p:txBody>
      </p:sp>
      <p:sp>
        <p:nvSpPr>
          <p:cNvPr id="6" name="">
            <a:extLst xmlns:a="http://schemas.openxmlformats.org/drawingml/2006/main">
              <a:ext uri="{FF2B5EF4-FFF2-40B4-BE49-F238E27FC236}">
                <a16:creationId xmlns:a16="http://schemas.microsoft.com/office/drawing/2014/main" id="{67A6320E-FFA4-46EF-8FFD-ED0CA1F8BD20}"/>
              </a:ext>
            </a:extLst>
          </p:cNvPr>
          <p:cNvSpPr>
            <a:spLocks xmlns:a="http://schemas.openxmlformats.org/drawingml/2006/main" noGrp="1"/>
          </p:cNvSpPr>
          <p:nvPr/>
        </p:nvSpPr>
        <p:spPr>
          <a:xfrm xmlns:a="http://schemas.openxmlformats.org/drawingml/2006/main">
            <a:off x="685800" y="272415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02</a:t>
            </a:r>
          </a:p>
        </p:txBody>
      </p:sp>
      <p:sp>
        <p:nvSpPr>
          <p:cNvPr id="7" name="">
            <a:extLst xmlns:a="http://schemas.openxmlformats.org/drawingml/2006/main">
              <a:ext uri="{FF2B5EF4-FFF2-40B4-BE49-F238E27FC236}">
                <a16:creationId xmlns:a16="http://schemas.microsoft.com/office/drawing/2014/main" id="{1912AEEC-0A05-418B-BB32-6AFF07AB07E6}"/>
              </a:ext>
            </a:extLst>
          </p:cNvPr>
          <p:cNvSpPr>
            <a:spLocks xmlns:a="http://schemas.openxmlformats.org/drawingml/2006/main" noGrp="1"/>
          </p:cNvSpPr>
          <p:nvPr/>
        </p:nvSpPr>
        <p:spPr>
          <a:xfrm xmlns:a="http://schemas.openxmlformats.org/drawingml/2006/main">
            <a:off x="1685925" y="272415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Refresh and apply a stress scenario</a:t>
            </a:r>
          </a:p>
        </p:txBody>
      </p:sp>
      <p:sp>
        <p:nvSpPr>
          <p:cNvPr id="8" name="">
            <a:extLst xmlns:a="http://schemas.openxmlformats.org/drawingml/2006/main">
              <a:ext uri="{FF2B5EF4-FFF2-40B4-BE49-F238E27FC236}">
                <a16:creationId xmlns:a16="http://schemas.microsoft.com/office/drawing/2014/main" id="{8C90DD44-C312-421A-8325-C825AF85B046}"/>
              </a:ext>
            </a:extLst>
          </p:cNvPr>
          <p:cNvSpPr>
            <a:spLocks xmlns:a="http://schemas.openxmlformats.org/drawingml/2006/main" noGrp="1"/>
          </p:cNvSpPr>
          <p:nvPr/>
        </p:nvSpPr>
        <p:spPr>
          <a:xfrm xmlns:a="http://schemas.openxmlformats.org/drawingml/2006/main">
            <a:off x="1685925" y="318135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Live CMC marks. Locked and frozen assets excluded.</a:t>
            </a:r>
          </a:p>
        </p:txBody>
      </p:sp>
      <p:sp>
        <p:nvSpPr>
          <p:cNvPr id="9" name="">
            <a:extLst xmlns:a="http://schemas.openxmlformats.org/drawingml/2006/main">
              <a:ext uri="{FF2B5EF4-FFF2-40B4-BE49-F238E27FC236}">
                <a16:creationId xmlns:a16="http://schemas.microsoft.com/office/drawing/2014/main" id="{2AAEC71F-3B64-4365-8522-83BCD9A02370}"/>
              </a:ext>
            </a:extLst>
          </p:cNvPr>
          <p:cNvSpPr>
            <a:spLocks xmlns:a="http://schemas.openxmlformats.org/drawingml/2006/main" noGrp="1"/>
          </p:cNvSpPr>
          <p:nvPr/>
        </p:nvSpPr>
        <p:spPr>
          <a:xfrm xmlns:a="http://schemas.openxmlformats.org/drawingml/2006/main">
            <a:off x="685800" y="378142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03</a:t>
            </a:r>
          </a:p>
        </p:txBody>
      </p:sp>
      <p:sp>
        <p:nvSpPr>
          <p:cNvPr id="10" name="">
            <a:extLst xmlns:a="http://schemas.openxmlformats.org/drawingml/2006/main">
              <a:ext uri="{FF2B5EF4-FFF2-40B4-BE49-F238E27FC236}">
                <a16:creationId xmlns:a16="http://schemas.microsoft.com/office/drawing/2014/main" id="{5790641A-6DAF-4145-A477-2875D7175F4E}"/>
              </a:ext>
            </a:extLst>
          </p:cNvPr>
          <p:cNvSpPr>
            <a:spLocks xmlns:a="http://schemas.openxmlformats.org/drawingml/2006/main" noGrp="1"/>
          </p:cNvSpPr>
          <p:nvPr/>
        </p:nvSpPr>
        <p:spPr>
          <a:xfrm xmlns:a="http://schemas.openxmlformats.org/drawingml/2006/main">
            <a:off x="1685925" y="378142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Inspect coverage and a fiat reserve what-if</a:t>
            </a:r>
          </a:p>
        </p:txBody>
      </p:sp>
      <p:sp>
        <p:nvSpPr>
          <p:cNvPr id="11" name="">
            <a:extLst xmlns:a="http://schemas.openxmlformats.org/drawingml/2006/main">
              <a:ext uri="{FF2B5EF4-FFF2-40B4-BE49-F238E27FC236}">
                <a16:creationId xmlns:a16="http://schemas.microsoft.com/office/drawing/2014/main" id="{356CFC59-AE2C-401E-9193-A36C45C7E3EF}"/>
              </a:ext>
            </a:extLst>
          </p:cNvPr>
          <p:cNvSpPr>
            <a:spLocks xmlns:a="http://schemas.openxmlformats.org/drawingml/2006/main" noGrp="1"/>
          </p:cNvSpPr>
          <p:nvPr/>
        </p:nvSpPr>
        <p:spPr>
          <a:xfrm xmlns:a="http://schemas.openxmlformats.org/drawingml/2006/main">
            <a:off x="1685925" y="423862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Current and stressed curves. Explicit fee assumption.</a:t>
            </a:r>
          </a:p>
        </p:txBody>
      </p:sp>
      <p:sp>
        <p:nvSpPr>
          <p:cNvPr id="12" name="">
            <a:extLst xmlns:a="http://schemas.openxmlformats.org/drawingml/2006/main">
              <a:ext uri="{FF2B5EF4-FFF2-40B4-BE49-F238E27FC236}">
                <a16:creationId xmlns:a16="http://schemas.microsoft.com/office/drawing/2014/main" id="{6E7A5418-39D6-4761-AF60-A7DCC440B33D}"/>
              </a:ext>
            </a:extLst>
          </p:cNvPr>
          <p:cNvSpPr>
            <a:spLocks xmlns:a="http://schemas.openxmlformats.org/drawingml/2006/main" noGrp="1"/>
          </p:cNvSpPr>
          <p:nvPr/>
        </p:nvSpPr>
        <p:spPr>
          <a:xfrm xmlns:a="http://schemas.openxmlformats.org/drawingml/2006/main">
            <a:off x="685800" y="483870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04</a:t>
            </a:r>
          </a:p>
        </p:txBody>
      </p:sp>
      <p:sp>
        <p:nvSpPr>
          <p:cNvPr id="13" name="">
            <a:extLst xmlns:a="http://schemas.openxmlformats.org/drawingml/2006/main">
              <a:ext uri="{FF2B5EF4-FFF2-40B4-BE49-F238E27FC236}">
                <a16:creationId xmlns:a16="http://schemas.microsoft.com/office/drawing/2014/main" id="{6E73537D-90D8-4AF3-B0F3-93D2713FD524}"/>
              </a:ext>
            </a:extLst>
          </p:cNvPr>
          <p:cNvSpPr>
            <a:spLocks xmlns:a="http://schemas.openxmlformats.org/drawingml/2006/main" noGrp="1"/>
          </p:cNvSpPr>
          <p:nvPr/>
        </p:nvSpPr>
        <p:spPr>
          <a:xfrm xmlns:a="http://schemas.openxmlformats.org/drawingml/2006/main">
            <a:off x="1685925" y="483870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Save the decision context</a:t>
            </a:r>
          </a:p>
        </p:txBody>
      </p:sp>
      <p:sp>
        <p:nvSpPr>
          <p:cNvPr id="14" name="">
            <a:extLst xmlns:a="http://schemas.openxmlformats.org/drawingml/2006/main">
              <a:ext uri="{FF2B5EF4-FFF2-40B4-BE49-F238E27FC236}">
                <a16:creationId xmlns:a16="http://schemas.microsoft.com/office/drawing/2014/main" id="{4FFCF7ED-9F4C-4D74-8754-93B6B16376B1}"/>
              </a:ext>
            </a:extLst>
          </p:cNvPr>
          <p:cNvSpPr>
            <a:spLocks xmlns:a="http://schemas.openxmlformats.org/drawingml/2006/main" noGrp="1"/>
          </p:cNvSpPr>
          <p:nvPr/>
        </p:nvSpPr>
        <p:spPr>
          <a:xfrm xmlns:a="http://schemas.openxmlformats.org/drawingml/2006/main">
            <a:off x="1685925" y="529590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Personal workspace. Immutable report, JSON and print.</a:t>
            </a:r>
          </a:p>
        </p:txBody>
      </p:sp>
    </p:spTree>
    <p:extLst>
      <p:ext uri="{BB962C8B-B14F-4D97-AF65-F5344CB8AC3E}">
        <p14:creationId xmlns:p14="http://schemas.microsoft.com/office/powerpoint/2010/main" val="1199200845"/>
      </p:ext>
    </p:extLst>
  </p:cSld>
</p:sld>
</file>

<file path=ppt/slides/slide4.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873194-44F4-4A18-A611-D7DD7ABF4FBD}"/>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Market observations become scheduled cash coverage</a:t>
            </a:r>
          </a:p>
        </p:txBody>
      </p:sp>
      <p:sp>
        <p:nvSpPr>
          <p:cNvPr id="2" name="">
            <a:extLst xmlns:a="http://schemas.openxmlformats.org/drawingml/2006/main">
              <a:ext uri="{FF2B5EF4-FFF2-40B4-BE49-F238E27FC236}">
                <a16:creationId xmlns:a16="http://schemas.microsoft.com/office/drawing/2014/main" id="{ADE90611-650C-4C9E-BD89-7397F77AB430}"/>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04</a:t>
            </a:r>
          </a:p>
        </p:txBody>
      </p:sp>
      <p:sp>
        <p:nvSpPr>
          <p:cNvPr id="3" name="">
            <a:extLst xmlns:a="http://schemas.openxmlformats.org/drawingml/2006/main">
              <a:ext uri="{FF2B5EF4-FFF2-40B4-BE49-F238E27FC236}">
                <a16:creationId xmlns:a16="http://schemas.microsoft.com/office/drawing/2014/main" id="{E5DE535E-EFC5-4175-B80B-5A9097AC0341}"/>
              </a:ext>
            </a:extLst>
          </p:cNvPr>
          <p:cNvSpPr>
            <a:spLocks xmlns:a="http://schemas.openxmlformats.org/drawingml/2006/main" noGrp="1"/>
          </p:cNvSpPr>
          <p:nvPr/>
        </p:nvSpPr>
        <p:spPr>
          <a:xfrm xmlns:a="http://schemas.openxmlformats.org/drawingml/2006/main">
            <a:off x="685800" y="16002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5EF6B"/>
                </a:solidFill>
                <a:latin typeface="Helvetica Neue"/>
                <a:ea typeface="Helvetica Neue"/>
                <a:cs typeface="Helvetica Neue"/>
              </a:defRPr>
            </a:pPr>
            <a:r>
              <a:rPr sz="2850" b="1">
                <a:solidFill>
                  <a:srgbClr val="B5EF6B"/>
                </a:solidFill>
                <a:latin typeface="Helvetica Neue"/>
                <a:ea typeface="Helvetica Neue"/>
                <a:cs typeface="Helvetica Neue"/>
              </a:rPr>
              <a:t>One batched quote request</a:t>
            </a:r>
          </a:p>
        </p:txBody>
      </p:sp>
      <p:sp>
        <p:nvSpPr>
          <p:cNvPr id="4" name="">
            <a:extLst xmlns:a="http://schemas.openxmlformats.org/drawingml/2006/main">
              <a:ext uri="{FF2B5EF4-FFF2-40B4-BE49-F238E27FC236}">
                <a16:creationId xmlns:a16="http://schemas.microsoft.com/office/drawing/2014/main" id="{588DA76C-3B84-471A-91E8-CEF585C9CA9A}"/>
              </a:ext>
            </a:extLst>
          </p:cNvPr>
          <p:cNvSpPr>
            <a:spLocks xmlns:a="http://schemas.openxmlformats.org/drawingml/2006/main" noGrp="1"/>
          </p:cNvSpPr>
          <p:nvPr/>
        </p:nvSpPr>
        <p:spPr>
          <a:xfrm xmlns:a="http://schemas.openxmlformats.org/drawingml/2006/main">
            <a:off x="685800" y="2286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/v3/cryptocurrency/quotes/latest</a:t>
            </a:r>
          </a:p>
        </p:txBody>
      </p:sp>
      <p:sp>
        <p:nvSpPr>
          <p:cNvPr id="5" name="">
            <a:extLst xmlns:a="http://schemas.openxmlformats.org/drawingml/2006/main">
              <a:ext uri="{FF2B5EF4-FFF2-40B4-BE49-F238E27FC236}">
                <a16:creationId xmlns:a16="http://schemas.microsoft.com/office/drawing/2014/main" id="{87C023AC-D236-4371-8B88-A69CF6A8CC7B}"/>
              </a:ext>
            </a:extLst>
          </p:cNvPr>
          <p:cNvSpPr>
            <a:spLocks xmlns:a="http://schemas.openxmlformats.org/drawingml/2006/main" noGrp="1"/>
          </p:cNvSpPr>
          <p:nvPr/>
        </p:nvSpPr>
        <p:spPr>
          <a:xfrm xmlns:a="http://schemas.openxmlformats.org/drawingml/2006/main">
            <a:off x="685800" y="29718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BTC 1    ETH 1027    SOL 5426    USDC 3408    USDT 825</a:t>
            </a:r>
          </a:p>
        </p:txBody>
      </p:sp>
      <p:sp>
        <p:nvSpPr>
          <p:cNvPr id="6" name="">
            <a:extLst xmlns:a="http://schemas.openxmlformats.org/drawingml/2006/main">
              <a:ext uri="{FF2B5EF4-FFF2-40B4-BE49-F238E27FC236}">
                <a16:creationId xmlns:a16="http://schemas.microsoft.com/office/drawing/2014/main" id="{5C52C19D-8216-4EB3-BAB1-81229388CDA4}"/>
              </a:ext>
            </a:extLst>
          </p:cNvPr>
          <p:cNvSpPr>
            <a:spLocks xmlns:a="http://schemas.openxmlformats.org/drawingml/2006/main" noGrp="1"/>
          </p:cNvSpPr>
          <p:nvPr/>
        </p:nvSpPr>
        <p:spPr>
          <a:xfrm xmlns:a="http://schemas.openxmlformats.org/drawingml/2006/main">
            <a:off x="685800" y="3905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5-minute shared cache</a:t>
            </a:r>
          </a:p>
        </p:txBody>
      </p:sp>
      <p:sp>
        <p:nvSpPr>
          <p:cNvPr id="7" name="">
            <a:extLst xmlns:a="http://schemas.openxmlformats.org/drawingml/2006/main">
              <a:ext uri="{FF2B5EF4-FFF2-40B4-BE49-F238E27FC236}">
                <a16:creationId xmlns:a16="http://schemas.microsoft.com/office/drawing/2014/main" id="{309A563B-BA9A-4897-8E62-514AE6DAD18B}"/>
              </a:ext>
            </a:extLst>
          </p:cNvPr>
          <p:cNvSpPr>
            <a:spLocks xmlns:a="http://schemas.openxmlformats.org/drawingml/2006/main" noGrp="1"/>
          </p:cNvSpPr>
          <p:nvPr/>
        </p:nvSpPr>
        <p:spPr>
          <a:xfrm xmlns:a="http://schemas.openxmlformats.org/drawingml/2006/main">
            <a:off x="685800" y="441960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Canonical IDs and freshness checks</a:t>
            </a:r>
          </a:p>
        </p:txBody>
      </p:sp>
      <p:sp>
        <p:nvSpPr>
          <p:cNvPr id="8" name="">
            <a:extLst xmlns:a="http://schemas.openxmlformats.org/drawingml/2006/main">
              <a:ext uri="{FF2B5EF4-FFF2-40B4-BE49-F238E27FC236}">
                <a16:creationId xmlns:a16="http://schemas.microsoft.com/office/drawing/2014/main" id="{00E377CB-29F6-45C4-8A01-181A50A51360}"/>
              </a:ext>
            </a:extLst>
          </p:cNvPr>
          <p:cNvSpPr>
            <a:spLocks xmlns:a="http://schemas.openxmlformats.org/drawingml/2006/main" noGrp="1"/>
          </p:cNvSpPr>
          <p:nvPr/>
        </p:nvSpPr>
        <p:spPr>
          <a:xfrm xmlns:a="http://schemas.openxmlformats.org/drawingml/2006/main">
            <a:off x="6572250" y="39052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Deterministic calculation engine</a:t>
            </a:r>
          </a:p>
        </p:txBody>
      </p:sp>
      <p:sp>
        <p:nvSpPr>
          <p:cNvPr id="9" name="">
            <a:extLst xmlns:a="http://schemas.openxmlformats.org/drawingml/2006/main">
              <a:ext uri="{FF2B5EF4-FFF2-40B4-BE49-F238E27FC236}">
                <a16:creationId xmlns:a16="http://schemas.microsoft.com/office/drawing/2014/main" id="{E034B366-D27A-4CAD-AA33-62A1DA15AEF5}"/>
              </a:ext>
            </a:extLst>
          </p:cNvPr>
          <p:cNvSpPr>
            <a:spLocks xmlns:a="http://schemas.openxmlformats.org/drawingml/2006/main" noGrp="1"/>
          </p:cNvSpPr>
          <p:nvPr/>
        </p:nvSpPr>
        <p:spPr>
          <a:xfrm xmlns:a="http://schemas.openxmlformats.org/drawingml/2006/main">
            <a:off x="6572250" y="441960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Cent precision. Calendar payroll scheduling.</a:t>
            </a:r>
          </a:p>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User-owned D1 records through ChatGPT sign-in.</a:t>
            </a:r>
          </a:p>
        </p:txBody>
      </p:sp>
    </p:spTree>
    <p:extLst>
      <p:ext uri="{BB962C8B-B14F-4D97-AF65-F5344CB8AC3E}">
        <p14:creationId xmlns:p14="http://schemas.microsoft.com/office/powerpoint/2010/main" val="7282641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B9974E-28FD-42E2-9EFB-262FC1A620B1}"/>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complete planning product with explicit limits</a:t>
            </a:r>
          </a:p>
        </p:txBody>
      </p:sp>
      <p:sp>
        <p:nvSpPr>
          <p:cNvPr id="2" name="">
            <a:extLst xmlns:a="http://schemas.openxmlformats.org/drawingml/2006/main">
              <a:ext uri="{FF2B5EF4-FFF2-40B4-BE49-F238E27FC236}">
                <a16:creationId xmlns:a16="http://schemas.microsoft.com/office/drawing/2014/main" id="{A5BB6F43-BA37-483F-A63B-7F929CC10C99}"/>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05</a:t>
            </a:r>
          </a:p>
        </p:txBody>
      </p:sp>
      <p:sp>
        <p:nvSpPr>
          <p:cNvPr id="3" name="">
            <a:extLst xmlns:a="http://schemas.openxmlformats.org/drawingml/2006/main">
              <a:ext uri="{FF2B5EF4-FFF2-40B4-BE49-F238E27FC236}">
                <a16:creationId xmlns:a16="http://schemas.microsoft.com/office/drawing/2014/main" id="{161EDCAB-F8FD-4DB3-9F5C-D7F9731FE785}"/>
              </a:ext>
            </a:extLst>
          </p:cNvPr>
          <p:cNvSpPr>
            <a:spLocks xmlns:a="http://schemas.openxmlformats.org/drawingml/2006/main" noGrp="1"/>
          </p:cNvSpPr>
          <p:nvPr/>
        </p:nvSpPr>
        <p:spPr>
          <a:xfrm xmlns:a="http://schemas.openxmlformats.org/drawingml/2006/main">
            <a:off x="685800" y="16478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Shipped</a:t>
            </a:r>
          </a:p>
        </p:txBody>
      </p:sp>
      <p:sp>
        <p:nvSpPr>
          <p:cNvPr id="4" name="">
            <a:extLst xmlns:a="http://schemas.openxmlformats.org/drawingml/2006/main">
              <a:ext uri="{FF2B5EF4-FFF2-40B4-BE49-F238E27FC236}">
                <a16:creationId xmlns:a16="http://schemas.microsoft.com/office/drawing/2014/main" id="{F9B4C947-2B61-4EF1-A32B-74EE5712EA4E}"/>
              </a:ext>
            </a:extLst>
          </p:cNvPr>
          <p:cNvSpPr>
            <a:spLocks xmlns:a="http://schemas.openxmlformats.org/drawingml/2006/main" noGrp="1"/>
          </p:cNvSpPr>
          <p:nvPr/>
        </p:nvSpPr>
        <p:spPr>
          <a:xfrm xmlns:a="http://schemas.openxmlformats.org/drawingml/2006/main">
            <a:off x="685800" y="2343150"/>
            <a:ext cx="51435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Live quotes and response evidence</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Stress coverage and reserve estimates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Saved personal workspaces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Preserved reports with export and print</a:t>
            </a:r>
          </a:p>
        </p:txBody>
      </p:sp>
      <p:sp>
        <p:nvSpPr>
          <p:cNvPr id="5" name="">
            <a:extLst xmlns:a="http://schemas.openxmlformats.org/drawingml/2006/main">
              <a:ext uri="{FF2B5EF4-FFF2-40B4-BE49-F238E27FC236}">
                <a16:creationId xmlns:a16="http://schemas.microsoft.com/office/drawing/2014/main" id="{0C90BE36-E149-40D3-BD73-D0DC6BC37613}"/>
              </a:ext>
            </a:extLst>
          </p:cNvPr>
          <p:cNvSpPr>
            <a:spLocks xmlns:a="http://schemas.openxmlformats.org/drawingml/2006/main" noGrp="1"/>
          </p:cNvSpPr>
          <p:nvPr/>
        </p:nvSpPr>
        <p:spPr>
          <a:xfrm xmlns:a="http://schemas.openxmlformats.org/drawingml/2006/main">
            <a:off x="6572250" y="16478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Verification</a:t>
            </a:r>
          </a:p>
        </p:txBody>
      </p:sp>
      <p:sp>
        <p:nvSpPr>
          <p:cNvPr id="6" name="">
            <a:extLst xmlns:a="http://schemas.openxmlformats.org/drawingml/2006/main">
              <a:ext uri="{FF2B5EF4-FFF2-40B4-BE49-F238E27FC236}">
                <a16:creationId xmlns:a16="http://schemas.microsoft.com/office/drawing/2014/main" id="{3282B661-DB49-4178-8939-18DFC2FBCF1C}"/>
              </a:ext>
            </a:extLst>
          </p:cNvPr>
          <p:cNvSpPr>
            <a:spLocks xmlns:a="http://schemas.openxmlformats.org/drawingml/2006/main" noGrp="1"/>
          </p:cNvSpPr>
          <p:nvPr/>
        </p:nvSpPr>
        <p:spPr>
          <a:xfrm xmlns:a="http://schemas.openxmlformats.org/drawingml/2006/main">
            <a:off x="6572250" y="2343150"/>
            <a:ext cx="49530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Adversarial calculation and API tests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Locked and frozen asset exclusions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Payroll scheduling and access ownership</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Input validation and missing-data states</a:t>
            </a:r>
          </a:p>
        </p:txBody>
      </p:sp>
      <p:sp>
        <p:nvSpPr>
          <p:cNvPr id="7" name="">
            <a:extLst xmlns:a="http://schemas.openxmlformats.org/drawingml/2006/main">
              <a:ext uri="{FF2B5EF4-FFF2-40B4-BE49-F238E27FC236}">
                <a16:creationId xmlns:a16="http://schemas.microsoft.com/office/drawing/2014/main" id="{22D9DF81-DF4A-4785-A059-19C9C7E84468}"/>
              </a:ext>
            </a:extLst>
          </p:cNvPr>
          <p:cNvSpPr>
            <a:spLocks xmlns:a="http://schemas.openxmlformats.org/drawingml/2006/main" noGrp="1"/>
          </p:cNvSpPr>
          <p:nvPr/>
        </p:nvSpPr>
        <p:spPr>
          <a:xfrm xmlns:a="http://schemas.openxmlformats.org/drawingml/2006/main">
            <a:off x="685800" y="509587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18B26"/>
                </a:solidFill>
                <a:latin typeface="Helvetica Neue"/>
                <a:ea typeface="Helvetica Neue"/>
                <a:cs typeface="Helvetica Neue"/>
              </a:defRPr>
            </a:pPr>
            <a:r>
              <a:rPr sz="2325" b="1">
                <a:solidFill>
                  <a:srgbClr val="D18B26"/>
                </a:solidFill>
                <a:latin typeface="Helvetica Neue"/>
                <a:ea typeface="Helvetica Neue"/>
                <a:cs typeface="Helvetica Neue"/>
              </a:rPr>
              <a:t>Planning only</a:t>
            </a:r>
          </a:p>
        </p:txBody>
      </p:sp>
      <p:sp>
        <p:nvSpPr>
          <p:cNvPr id="8" name="">
            <a:extLst xmlns:a="http://schemas.openxmlformats.org/drawingml/2006/main">
              <a:ext uri="{FF2B5EF4-FFF2-40B4-BE49-F238E27FC236}">
                <a16:creationId xmlns:a16="http://schemas.microsoft.com/office/drawing/2014/main" id="{C4965B58-A828-4FE0-81D7-56D4785B80CE}"/>
              </a:ext>
            </a:extLst>
          </p:cNvPr>
          <p:cNvSpPr>
            <a:spLocks xmlns:a="http://schemas.openxmlformats.org/drawingml/2006/main" noGrp="1"/>
          </p:cNvSpPr>
          <p:nvPr/>
        </p:nvSpPr>
        <p:spPr>
          <a:xfrm xmlns:a="http://schemas.openxmlformats.org/drawingml/2006/main">
            <a:off x="685800" y="56292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No trade execution, payroll payments, alerts, billing or team permissions</a:t>
            </a:r>
          </a:p>
        </p:txBody>
      </p:sp>
    </p:spTree>
    <p:extLst>
      <p:ext uri="{BB962C8B-B14F-4D97-AF65-F5344CB8AC3E}">
        <p14:creationId xmlns:p14="http://schemas.microsoft.com/office/powerpoint/2010/main" val="1372443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972B5FE-D542-4E65-A67D-D561A59B78A9}"/>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focused business hypothesis</a:t>
            </a:r>
          </a:p>
        </p:txBody>
      </p:sp>
      <p:sp>
        <p:nvSpPr>
          <p:cNvPr id="2" name="">
            <a:extLst xmlns:a="http://schemas.openxmlformats.org/drawingml/2006/main">
              <a:ext uri="{FF2B5EF4-FFF2-40B4-BE49-F238E27FC236}">
                <a16:creationId xmlns:a16="http://schemas.microsoft.com/office/drawing/2014/main" id="{6B967C1F-46BA-46C1-BCEF-618D63987ED8}"/>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06</a:t>
            </a:r>
          </a:p>
        </p:txBody>
      </p:sp>
      <p:sp>
        <p:nvSpPr>
          <p:cNvPr id="3" name="">
            <a:extLst xmlns:a="http://schemas.openxmlformats.org/drawingml/2006/main">
              <a:ext uri="{FF2B5EF4-FFF2-40B4-BE49-F238E27FC236}">
                <a16:creationId xmlns:a16="http://schemas.microsoft.com/office/drawing/2014/main" id="{BCBD7E0A-05A8-4400-A5DB-934CB9B1DF22}"/>
              </a:ext>
            </a:extLst>
          </p:cNvPr>
          <p:cNvSpPr>
            <a:spLocks xmlns:a="http://schemas.openxmlformats.org/drawingml/2006/main" noGrp="1"/>
          </p:cNvSpPr>
          <p:nvPr/>
        </p:nvSpPr>
        <p:spPr>
          <a:xfrm xmlns:a="http://schemas.openxmlformats.org/drawingml/2006/main">
            <a:off x="685800" y="1514475"/>
            <a:ext cx="10820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6343B"/>
                </a:solidFill>
                <a:latin typeface="Helvetica Neue"/>
                <a:ea typeface="Helvetica Neue"/>
                <a:cs typeface="Helvetica Neue"/>
              </a:defRPr>
            </a:pPr>
            <a:r>
              <a:rPr sz="2850" b="1">
                <a:solidFill>
                  <a:srgbClr val="16343B"/>
                </a:solidFill>
                <a:latin typeface="Helvetica Neue"/>
                <a:ea typeface="Helvetica Neue"/>
                <a:cs typeface="Helvetica Neue"/>
              </a:rPr>
              <a:t>5–50-person crypto-native teams</a:t>
            </a:r>
          </a:p>
        </p:txBody>
      </p:sp>
      <p:sp>
        <p:nvSpPr>
          <p:cNvPr id="4" name="">
            <a:extLst xmlns:a="http://schemas.openxmlformats.org/drawingml/2006/main">
              <a:ext uri="{FF2B5EF4-FFF2-40B4-BE49-F238E27FC236}">
                <a16:creationId xmlns:a16="http://schemas.microsoft.com/office/drawing/2014/main" id="{E4CC9EC4-FCB4-4E45-90B0-915E4F2BFBCE}"/>
              </a:ext>
            </a:extLst>
          </p:cNvPr>
          <p:cNvSpPr>
            <a:spLocks xmlns:a="http://schemas.openxmlformats.org/drawingml/2006/main" noGrp="1"/>
          </p:cNvSpPr>
          <p:nvPr/>
        </p:nvSpPr>
        <p:spPr>
          <a:xfrm xmlns:a="http://schemas.openxmlformats.org/drawingml/2006/main">
            <a:off x="685800" y="2143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7278"/>
                </a:solidFill>
                <a:latin typeface="Helvetica Neue"/>
                <a:ea typeface="Helvetica Neue"/>
                <a:cs typeface="Helvetica Neue"/>
              </a:defRPr>
            </a:pPr>
            <a:r>
              <a:rPr sz="1875" b="0">
                <a:solidFill>
                  <a:srgbClr val="5C7278"/>
                </a:solidFill>
                <a:latin typeface="Helvetica Neue"/>
                <a:ea typeface="Helvetica Neue"/>
                <a:cs typeface="Helvetica Neue"/>
              </a:rPr>
              <a:t>Founders and finance operators checking the next payment cycle</a:t>
            </a:r>
          </a:p>
        </p:txBody>
      </p:sp>
      <p:sp>
        <p:nvSpPr>
          <p:cNvPr id="5" name="">
            <a:extLst xmlns:a="http://schemas.openxmlformats.org/drawingml/2006/main">
              <a:ext uri="{FF2B5EF4-FFF2-40B4-BE49-F238E27FC236}">
                <a16:creationId xmlns:a16="http://schemas.microsoft.com/office/drawing/2014/main" id="{54C05F48-D900-43D8-86E9-6974271FD383}"/>
              </a:ext>
            </a:extLst>
          </p:cNvPr>
          <p:cNvSpPr>
            <a:spLocks xmlns:a="http://schemas.openxmlformats.org/drawingml/2006/main" noGrp="1"/>
          </p:cNvSpPr>
          <p:nvPr/>
        </p:nvSpPr>
        <p:spPr>
          <a:xfrm xmlns:a="http://schemas.openxmlformats.org/drawingml/2006/main">
            <a:off x="685800" y="2628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C7278"/>
                </a:solidFill>
                <a:latin typeface="Helvetica Neue"/>
                <a:ea typeface="Helvetica Neue"/>
                <a:cs typeface="Helvetica Neue"/>
              </a:defRPr>
            </a:pPr>
            <a:r>
              <a:rPr sz="1575" b="0">
                <a:solidFill>
                  <a:srgbClr val="5C7278"/>
                </a:solidFill>
                <a:latin typeface="Helvetica Neue"/>
                <a:ea typeface="Helvetica Neue"/>
                <a:cs typeface="Helvetica Neue"/>
              </a:rPr>
              <a:t>Complements Safe custody, Request payments and KPK treasury services</a:t>
            </a:r>
          </a:p>
        </p:txBody>
      </p:sp>
      <p:sp>
        <p:nvSpPr>
          <p:cNvPr id="6" name="">
            <a:extLst xmlns:a="http://schemas.openxmlformats.org/drawingml/2006/main">
              <a:ext uri="{FF2B5EF4-FFF2-40B4-BE49-F238E27FC236}">
                <a16:creationId xmlns:a16="http://schemas.microsoft.com/office/drawing/2014/main" id="{FAC2D550-AD4A-4484-B09E-F51C36822003}"/>
              </a:ext>
            </a:extLst>
          </p:cNvPr>
          <p:cNvSpPr>
            <a:spLocks xmlns:a="http://schemas.openxmlformats.org/drawingml/2006/main" noGrp="1"/>
          </p:cNvSpPr>
          <p:nvPr/>
        </p:nvSpPr>
        <p:spPr>
          <a:xfrm xmlns:a="http://schemas.openxmlformats.org/drawingml/2006/main">
            <a:off x="68580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$29 / month</a:t>
            </a:r>
          </a:p>
        </p:txBody>
      </p:sp>
      <p:sp>
        <p:nvSpPr>
          <p:cNvPr id="7" name="">
            <a:extLst xmlns:a="http://schemas.openxmlformats.org/drawingml/2006/main">
              <a:ext uri="{FF2B5EF4-FFF2-40B4-BE49-F238E27FC236}">
                <a16:creationId xmlns:a16="http://schemas.microsoft.com/office/drawing/2014/main" id="{240FBD44-2CD5-43BE-8C71-534D931656F5}"/>
              </a:ext>
            </a:extLst>
          </p:cNvPr>
          <p:cNvSpPr>
            <a:spLocks xmlns:a="http://schemas.openxmlformats.org/drawingml/2006/main" noGrp="1"/>
          </p:cNvSpPr>
          <p:nvPr/>
        </p:nvSpPr>
        <p:spPr>
          <a:xfrm xmlns:a="http://schemas.openxmlformats.org/drawingml/2006/main">
            <a:off x="685800" y="38004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Operator plan: one workspace</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scheduled checks</a:t>
            </a:r>
          </a:p>
        </p:txBody>
      </p:sp>
      <p:sp>
        <p:nvSpPr>
          <p:cNvPr id="8" name="">
            <a:extLst xmlns:a="http://schemas.openxmlformats.org/drawingml/2006/main">
              <a:ext uri="{FF2B5EF4-FFF2-40B4-BE49-F238E27FC236}">
                <a16:creationId xmlns:a16="http://schemas.microsoft.com/office/drawing/2014/main" id="{C7BA04B5-24CC-4FF8-972F-193EF6102434}"/>
              </a:ext>
            </a:extLst>
          </p:cNvPr>
          <p:cNvSpPr>
            <a:spLocks xmlns:a="http://schemas.openxmlformats.org/drawingml/2006/main" noGrp="1"/>
          </p:cNvSpPr>
          <p:nvPr/>
        </p:nvSpPr>
        <p:spPr>
          <a:xfrm xmlns:a="http://schemas.openxmlformats.org/drawingml/2006/main">
            <a:off x="657225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$79 / month</a:t>
            </a:r>
          </a:p>
        </p:txBody>
      </p:sp>
      <p:sp>
        <p:nvSpPr>
          <p:cNvPr id="9" name="">
            <a:extLst xmlns:a="http://schemas.openxmlformats.org/drawingml/2006/main">
              <a:ext uri="{FF2B5EF4-FFF2-40B4-BE49-F238E27FC236}">
                <a16:creationId xmlns:a16="http://schemas.microsoft.com/office/drawing/2014/main" id="{78DDF5D3-27A3-4F20-9B2C-8E67DD60405A}"/>
              </a:ext>
            </a:extLst>
          </p:cNvPr>
          <p:cNvSpPr>
            <a:spLocks xmlns:a="http://schemas.openxmlformats.org/drawingml/2006/main" noGrp="1"/>
          </p:cNvSpPr>
          <p:nvPr/>
        </p:nvSpPr>
        <p:spPr>
          <a:xfrm xmlns:a="http://schemas.openxmlformats.org/drawingml/2006/main">
            <a:off x="6572250" y="38004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Finance plan</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multiple workspaces and teams</a:t>
            </a:r>
          </a:p>
        </p:txBody>
      </p:sp>
      <p:sp>
        <p:nvSpPr>
          <p:cNvPr id="10" name="">
            <a:extLst xmlns:a="http://schemas.openxmlformats.org/drawingml/2006/main">
              <a:ext uri="{FF2B5EF4-FFF2-40B4-BE49-F238E27FC236}">
                <a16:creationId xmlns:a16="http://schemas.microsoft.com/office/drawing/2014/main" id="{F28C7A93-64D9-420E-BE19-F8D371B0D485}"/>
              </a:ext>
            </a:extLst>
          </p:cNvPr>
          <p:cNvSpPr>
            <a:spLocks xmlns:a="http://schemas.openxmlformats.org/drawingml/2006/main" noGrp="1"/>
          </p:cNvSpPr>
          <p:nvPr/>
        </p:nvSpPr>
        <p:spPr>
          <a:xfrm xmlns:a="http://schemas.openxmlformats.org/drawingml/2006/main">
            <a:off x="685800" y="492442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343B"/>
                </a:solidFill>
                <a:latin typeface="Helvetica Neue"/>
                <a:ea typeface="Helvetica Neue"/>
                <a:cs typeface="Helvetica Neue"/>
              </a:defRPr>
            </a:pPr>
            <a:r>
              <a:rPr sz="2550" b="1">
                <a:solidFill>
                  <a:srgbClr val="16343B"/>
                </a:solidFill>
                <a:latin typeface="Helvetica Neue"/>
                <a:ea typeface="Helvetica Neue"/>
                <a:cs typeface="Helvetica Neue"/>
              </a:rPr>
              <a:t>8,640 quote credits / 30 days</a:t>
            </a:r>
          </a:p>
        </p:txBody>
      </p:sp>
      <p:sp>
        <p:nvSpPr>
          <p:cNvPr id="11" name="">
            <a:extLst xmlns:a="http://schemas.openxmlformats.org/drawingml/2006/main">
              <a:ext uri="{FF2B5EF4-FFF2-40B4-BE49-F238E27FC236}">
                <a16:creationId xmlns:a16="http://schemas.microsoft.com/office/drawing/2014/main" id="{28254318-49EE-4C66-8652-76285E1A8651}"/>
              </a:ext>
            </a:extLst>
          </p:cNvPr>
          <p:cNvSpPr>
            <a:spLocks xmlns:a="http://schemas.openxmlformats.org/drawingml/2006/main" noGrp="1"/>
          </p:cNvSpPr>
          <p:nvPr/>
        </p:nvSpPr>
        <p:spPr>
          <a:xfrm xmlns:a="http://schemas.openxmlformats.org/drawingml/2006/main">
            <a:off x="685800" y="5467350"/>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Shared 5-minute batch, ≤250 assets, one USD conversion</a:t>
            </a:r>
          </a:p>
        </p:txBody>
      </p:sp>
      <p:sp>
        <p:nvSpPr>
          <p:cNvPr id="12" name="">
            <a:extLst xmlns:a="http://schemas.openxmlformats.org/drawingml/2006/main">
              <a:ext uri="{FF2B5EF4-FFF2-40B4-BE49-F238E27FC236}">
                <a16:creationId xmlns:a16="http://schemas.microsoft.com/office/drawing/2014/main" id="{4EC90511-BE43-428B-905D-45A0E4F3E6C3}"/>
              </a:ext>
            </a:extLst>
          </p:cNvPr>
          <p:cNvSpPr>
            <a:spLocks xmlns:a="http://schemas.openxmlformats.org/drawingml/2006/main" noGrp="1"/>
          </p:cNvSpPr>
          <p:nvPr/>
        </p:nvSpPr>
        <p:spPr>
          <a:xfrm xmlns:a="http://schemas.openxmlformats.org/drawingml/2006/main">
            <a:off x="685800" y="5905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18B26"/>
                </a:solidFill>
                <a:latin typeface="Helvetica Neue"/>
                <a:ea typeface="Helvetica Neue"/>
                <a:cs typeface="Helvetica Neue"/>
              </a:defRPr>
            </a:pPr>
            <a:r>
              <a:rPr sz="1350" b="0">
                <a:solidFill>
                  <a:srgbClr val="D18B26"/>
                </a:solidFill>
                <a:latin typeface="Helvetica Neue"/>
                <a:ea typeface="Helvetica Neue"/>
                <a:cs typeface="Helvetica Neue"/>
              </a:rPr>
              <a:t>No traction or billing claimed. Confirm API licensing before paid B2B launch.</a:t>
            </a:r>
          </a:p>
        </p:txBody>
      </p:sp>
    </p:spTree>
    <p:extLst>
      <p:ext uri="{BB962C8B-B14F-4D97-AF65-F5344CB8AC3E}">
        <p14:creationId xmlns:p14="http://schemas.microsoft.com/office/powerpoint/2010/main" val="1260701904"/>
      </p:ext>
    </p:extLst>
  </p:cSld>
</p:sld>
</file>

<file path=ppt/slides/slide7.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3F456A1-199F-4FB0-8FD7-8E6AF3EB28DA}"/>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Can your next obligations survive the stress?</a:t>
            </a:r>
          </a:p>
        </p:txBody>
      </p:sp>
      <p:sp>
        <p:nvSpPr>
          <p:cNvPr id="2" name="">
            <a:extLst xmlns:a="http://schemas.openxmlformats.org/drawingml/2006/main">
              <a:ext uri="{FF2B5EF4-FFF2-40B4-BE49-F238E27FC236}">
                <a16:creationId xmlns:a16="http://schemas.microsoft.com/office/drawing/2014/main" id="{46860861-E45D-419F-A61F-797B32263756}"/>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07</a:t>
            </a:r>
          </a:p>
        </p:txBody>
      </p:sp>
      <p:sp>
        <p:nvSpPr>
          <p:cNvPr id="3" name="">
            <a:extLst xmlns:a="http://schemas.openxmlformats.org/drawingml/2006/main">
              <a:ext uri="{FF2B5EF4-FFF2-40B4-BE49-F238E27FC236}">
                <a16:creationId xmlns:a16="http://schemas.microsoft.com/office/drawing/2014/main" id="{CBE5A292-019F-48DC-B100-E5C69026065E}"/>
              </a:ext>
            </a:extLst>
          </p:cNvPr>
          <p:cNvSpPr>
            <a:spLocks xmlns:a="http://schemas.openxmlformats.org/drawingml/2006/main" noGrp="1"/>
          </p:cNvSpPr>
          <p:nvPr/>
        </p:nvSpPr>
        <p:spPr>
          <a:xfrm xmlns:a="http://schemas.openxmlformats.org/drawingml/2006/main">
            <a:off x="685800" y="1933575"/>
            <a:ext cx="108204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Runway Guard</a:t>
            </a:r>
          </a:p>
        </p:txBody>
      </p:sp>
      <p:sp>
        <p:nvSpPr>
          <p:cNvPr id="4" name="">
            <a:extLst xmlns:a="http://schemas.openxmlformats.org/drawingml/2006/main">
              <a:ext uri="{FF2B5EF4-FFF2-40B4-BE49-F238E27FC236}">
                <a16:creationId xmlns:a16="http://schemas.microsoft.com/office/drawing/2014/main" id="{32B3385A-C4D6-4920-A821-05546D98DC8B}"/>
              </a:ext>
            </a:extLst>
          </p:cNvPr>
          <p:cNvSpPr>
            <a:spLocks xmlns:a="http://schemas.openxmlformats.org/drawingml/2006/main" noGrp="1"/>
          </p:cNvSpPr>
          <p:nvPr/>
        </p:nvSpPr>
        <p:spPr>
          <a:xfrm xmlns:a="http://schemas.openxmlformats.org/drawingml/2006/main">
            <a:off x="685800" y="30003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5EF6B"/>
                </a:solidFill>
                <a:latin typeface="Helvetica Neue"/>
                <a:ea typeface="Helvetica Neue"/>
                <a:cs typeface="Helvetica Neue"/>
              </a:defRPr>
            </a:pPr>
            <a:r>
              <a:rPr sz="2175" b="0">
                <a:solidFill>
                  <a:srgbClr val="B5EF6B"/>
                </a:solidFill>
                <a:latin typeface="Helvetica Neue"/>
                <a:ea typeface="Helvetica Neue"/>
                <a:cs typeface="Helvetica Neue"/>
              </a:rPr>
              <a:t>github.com/shi1720/coinmarketcap</a:t>
            </a:r>
          </a:p>
        </p:txBody>
      </p:sp>
      <p:sp>
        <p:nvSpPr>
          <p:cNvPr id="5" name="">
            <a:extLst xmlns:a="http://schemas.openxmlformats.org/drawingml/2006/main">
              <a:ext uri="{FF2B5EF4-FFF2-40B4-BE49-F238E27FC236}">
                <a16:creationId xmlns:a16="http://schemas.microsoft.com/office/drawing/2014/main" id="{F995CF18-D39F-4A39-9BA0-C6112F0E8D73}"/>
              </a:ext>
            </a:extLst>
          </p:cNvPr>
          <p:cNvSpPr>
            <a:spLocks xmlns:a="http://schemas.openxmlformats.org/drawingml/2006/main" noGrp="1"/>
          </p:cNvSpPr>
          <p:nvPr/>
        </p:nvSpPr>
        <p:spPr>
          <a:xfrm xmlns:a="http://schemas.openxmlformats.org/drawingml/2006/main">
            <a:off x="685800" y="38385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Deployment target</a:t>
            </a:r>
          </a:p>
        </p:txBody>
      </p:sp>
      <p:sp>
        <p:nvSpPr>
          <p:cNvPr id="6" name="">
            <a:extLst xmlns:a="http://schemas.openxmlformats.org/drawingml/2006/main">
              <a:ext uri="{FF2B5EF4-FFF2-40B4-BE49-F238E27FC236}">
                <a16:creationId xmlns:a16="http://schemas.microsoft.com/office/drawing/2014/main" id="{20A3201C-C76E-47F5-BFF7-5D060D44C89E}"/>
              </a:ext>
            </a:extLst>
          </p:cNvPr>
          <p:cNvSpPr>
            <a:spLocks xmlns:a="http://schemas.openxmlformats.org/drawingml/2006/main" noGrp="1"/>
          </p:cNvSpPr>
          <p:nvPr/>
        </p:nvSpPr>
        <p:spPr>
          <a:xfrm xmlns:a="http://schemas.openxmlformats.org/drawingml/2006/main">
            <a:off x="685800" y="42957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runway-guard.sg127977958.chatgpt.site</a:t>
            </a:r>
          </a:p>
        </p:txBody>
      </p:sp>
      <p:sp>
        <p:nvSpPr>
          <p:cNvPr id="7" name="">
            <a:extLst xmlns:a="http://schemas.openxmlformats.org/drawingml/2006/main">
              <a:ext uri="{FF2B5EF4-FFF2-40B4-BE49-F238E27FC236}">
                <a16:creationId xmlns:a16="http://schemas.microsoft.com/office/drawing/2014/main" id="{F416F883-6AE4-4ED5-BD45-0E5B38851C58}"/>
              </a:ext>
            </a:extLst>
          </p:cNvPr>
          <p:cNvSpPr>
            <a:spLocks xmlns:a="http://schemas.openxmlformats.org/drawingml/2006/main" noGrp="1"/>
          </p:cNvSpPr>
          <p:nvPr/>
        </p:nvSpPr>
        <p:spPr>
          <a:xfrm xmlns:a="http://schemas.openxmlformats.org/drawingml/2006/main">
            <a:off x="685800" y="52197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5EF6B"/>
                </a:solidFill>
                <a:latin typeface="Helvetica Neue"/>
                <a:ea typeface="Helvetica Neue"/>
                <a:cs typeface="Helvetica Neue"/>
              </a:defRPr>
            </a:pPr>
            <a:r>
              <a:rPr sz="1875" b="1">
                <a:solidFill>
                  <a:srgbClr val="B5EF6B"/>
                </a:solidFill>
                <a:latin typeface="Helvetica Neue"/>
                <a:ea typeface="Helvetica Neue"/>
                <a:cs typeface="Helvetica Neue"/>
              </a:rPr>
              <a:t>Final submission steps</a:t>
            </a:r>
          </a:p>
        </p:txBody>
      </p:sp>
      <p:sp>
        <p:nvSpPr>
          <p:cNvPr id="8" name="">
            <a:extLst xmlns:a="http://schemas.openxmlformats.org/drawingml/2006/main">
              <a:ext uri="{FF2B5EF4-FFF2-40B4-BE49-F238E27FC236}">
                <a16:creationId xmlns:a16="http://schemas.microsoft.com/office/drawing/2014/main" id="{3DDD9A26-33F5-4979-9780-BCC9793E0DC9}"/>
              </a:ext>
            </a:extLst>
          </p:cNvPr>
          <p:cNvSpPr>
            <a:spLocks xmlns:a="http://schemas.openxmlformats.org/drawingml/2006/main" noGrp="1"/>
          </p:cNvSpPr>
          <p:nvPr/>
        </p:nvSpPr>
        <p:spPr>
          <a:xfrm xmlns:a="http://schemas.openxmlformats.org/drawingml/2006/main">
            <a:off x="685800" y="56578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Campaign-key evidence pending. Video, DoraHacks submission and X post remain.</a:t>
            </a:r>
          </a:p>
        </p:txBody>
      </p:sp>
    </p:spTree>
    <p:extLst>
      <p:ext uri="{BB962C8B-B14F-4D97-AF65-F5344CB8AC3E}">
        <p14:creationId xmlns:p14="http://schemas.microsoft.com/office/powerpoint/2010/main" val="19548345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2026-09-30T09:20:41.6760000Z</dcterms:created>
  <dcterms:modified xsi:type="dcterms:W3CDTF">2026-09-30T09:20:41.6760000Z</dcterms:modified>
</coreProperties>
</file>